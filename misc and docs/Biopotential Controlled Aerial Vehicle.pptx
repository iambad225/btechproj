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71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671DA2-9C14-477F-9ED5-989B06F0FC39}">
  <a:tblStyle styleId="{42671DA2-9C14-477F-9ED5-989B06F0FC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773" y="5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D520317-699D-FC82-0370-00C8377A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>
            <a:extLst>
              <a:ext uri="{FF2B5EF4-FFF2-40B4-BE49-F238E27FC236}">
                <a16:creationId xmlns:a16="http://schemas.microsoft.com/office/drawing/2014/main" id="{178EE3AD-3A2C-59C8-49A2-B2C5483A6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>
            <a:extLst>
              <a:ext uri="{FF2B5EF4-FFF2-40B4-BE49-F238E27FC236}">
                <a16:creationId xmlns:a16="http://schemas.microsoft.com/office/drawing/2014/main" id="{067693DE-3EEE-00F9-12B1-ED4B44C9A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452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23157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Biopotential Controlled Aerial Vehicle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55577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Next-Generation Human-Machine Interfacing (HMI)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94179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COEP Technological University, Pune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81250" y="4000500"/>
            <a:ext cx="2476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Amogh Bhosekar (612309009)</a:t>
            </a:r>
            <a:endParaRPr sz="1200" b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857750" y="4000500"/>
            <a:ext cx="2476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Nihar Joshi (612309025)</a:t>
            </a:r>
            <a:endParaRPr sz="1200" b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34250" y="4000500"/>
            <a:ext cx="2476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Mentor: Dr. Uttam Chaskar</a:t>
            </a:r>
            <a:endParaRPr sz="1200" b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l="328" r="328"/>
          <a:stretch/>
        </p:blipFill>
        <p:spPr>
          <a:xfrm>
            <a:off x="2218459" y="4010025"/>
            <a:ext cx="152400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l="328" r="328"/>
          <a:stretch/>
        </p:blipFill>
        <p:spPr>
          <a:xfrm>
            <a:off x="5029200" y="4010025"/>
            <a:ext cx="152400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t="573" b="573"/>
          <a:stretch/>
        </p:blipFill>
        <p:spPr>
          <a:xfrm>
            <a:off x="7310005" y="4010025"/>
            <a:ext cx="219000" cy="1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0" y="4000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Project Abstract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223045"/>
            <a:ext cx="5238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Developing a 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Biopotential Controlled UAV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designed for high-fidelity aerial navigation, specifically targeting assistive technology and hands-free teleoperation.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3327945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Interpret user intent via EMG multimodal signals.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904875" y="382324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Classification of 6 distinct flight commands.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904875" y="431854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Implementation of Support Vector Machines (SVM).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904875" y="481384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Evaluation of conductive fabric as skin-electrode surfaces.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7080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6610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6140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56708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2508"/>
            <a:ext cx="35242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732508"/>
            <a:ext cx="35242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732508"/>
            <a:ext cx="35242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Background &amp; Context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5113883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"The system relies on Event-Related Desynchronization (ERD) and Synchronization (ERS) for motor imagery detection."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113883"/>
            <a:ext cx="38100" cy="60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57250" y="253260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Biopotentials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57250" y="2999333"/>
            <a:ext cx="2952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Utilizing electrical activity generated by neurological and physiological processes (EEG, EMG, EOG).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19625" y="253260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Assistive Tech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19625" y="299933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Enabling individuals with severe motor disabilities to navigate environments hands-free.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0" y="253260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Neurological Intent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0" y="299933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Transitioning from manual RF controllers to intuitive, intent-based flight command systems.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04683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9625" y="204683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2046833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571500"/>
            <a:ext cx="50006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136014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Intention-to-Execution Gap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176971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Reliably translating complex, noisy EEG/EMG data into real-time commands is the primary bottleneck.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2722215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Signal Noise: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Environmental and biological artifacts.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875" y="3522315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Latency: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Bridging the delay between thought and drone movement.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4322415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Predictability: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Mapping non-linear signals to stable multi-axis flight.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50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651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6527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5458"/>
            <a:ext cx="3524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75458"/>
            <a:ext cx="3524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75458"/>
            <a:ext cx="35242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Technical Objectives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57250" y="327555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Objective 1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57250" y="374228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 a 4-channel EMG Analog Front End (AFE) for precise signal conditioning.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619625" y="327555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Objective 2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19625" y="374228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Classification of wrist movements using EMG signal acquisition for flight control.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382000" y="327555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Objective 3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382000" y="374228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 Carbon Nanotube coated fabric as an alternative to traditional gel electrodes.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8978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9625" y="278978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2789783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04875" y="229924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Acquisition: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OpenBCI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Cyton (8-ch) and Custom 4-ch EMG Hardware.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904875" y="309934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MATLAB environment for real-time feature extraction and SVM.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904875" y="389944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Link: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Lab Streaming Layer (LSL) protocol for low-latency synchronization.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904875" y="469954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HC-05 Bluetooth module communicating with On-board ESP32.</a:t>
            </a:r>
            <a:endParaRPr dirty="0"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9925" y="571500"/>
            <a:ext cx="5238750" cy="5238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72C3951-DFB9-638E-C60B-9C9DFFC1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>
            <a:extLst>
              <a:ext uri="{FF2B5EF4-FFF2-40B4-BE49-F238E27FC236}">
                <a16:creationId xmlns:a16="http://schemas.microsoft.com/office/drawing/2014/main" id="{375E3183-44D6-A862-AD7A-68D61D4064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>
            <a:extLst>
              <a:ext uri="{FF2B5EF4-FFF2-40B4-BE49-F238E27FC236}">
                <a16:creationId xmlns:a16="http://schemas.microsoft.com/office/drawing/2014/main" id="{261C93E6-D9BB-E685-95B9-4E004FE9C8D8}"/>
              </a:ext>
            </a:extLst>
          </p:cNvPr>
          <p:cNvSpPr txBox="1"/>
          <p:nvPr/>
        </p:nvSpPr>
        <p:spPr>
          <a:xfrm>
            <a:off x="571500" y="474345"/>
            <a:ext cx="4905375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/>
              <a:t>Core Components</a:t>
            </a:r>
          </a:p>
          <a:p>
            <a:r>
              <a:rPr lang="en-IN" sz="1600" b="1" dirty="0"/>
              <a:t>ADC:</a:t>
            </a:r>
            <a:r>
              <a:rPr lang="en-IN" sz="1600" dirty="0"/>
              <a:t> Texas Instruments ADS1299 (8-channel, 24-bit resolution).</a:t>
            </a:r>
          </a:p>
          <a:p>
            <a:r>
              <a:rPr lang="en-IN" sz="1600" b="1" dirty="0"/>
              <a:t>Microcontroller:</a:t>
            </a:r>
            <a:r>
              <a:rPr lang="en-IN" sz="1600" dirty="0"/>
              <a:t> PIC32MX250F128B (32-bit, 50MHz).</a:t>
            </a:r>
          </a:p>
          <a:p>
            <a:r>
              <a:rPr lang="en-IN" sz="1600" b="1" dirty="0"/>
              <a:t>Bluetooth:</a:t>
            </a:r>
            <a:r>
              <a:rPr lang="en-IN" sz="1600" dirty="0"/>
              <a:t> </a:t>
            </a:r>
            <a:r>
              <a:rPr lang="en-IN" sz="1600" dirty="0" err="1"/>
              <a:t>RFduino</a:t>
            </a:r>
            <a:r>
              <a:rPr lang="en-IN" sz="1600" dirty="0"/>
              <a:t> (BLE) for wireless data transmission to a USB Dongle.</a:t>
            </a:r>
          </a:p>
          <a:p>
            <a:r>
              <a:rPr lang="en-IN" sz="1600" b="1" dirty="0"/>
              <a:t>Accelerometer:</a:t>
            </a:r>
            <a:r>
              <a:rPr lang="en-IN" sz="1600" dirty="0"/>
              <a:t> LIS3DH 3-axis (measures head movement and artifacts).</a:t>
            </a:r>
          </a:p>
          <a:p>
            <a:r>
              <a:rPr lang="en-IN" sz="1600" b="1" dirty="0"/>
              <a:t>Signal Quality &amp; ADC Specs</a:t>
            </a:r>
          </a:p>
          <a:p>
            <a:r>
              <a:rPr lang="en-IN" sz="1600" b="1" dirty="0"/>
              <a:t>Resolution:</a:t>
            </a:r>
            <a:r>
              <a:rPr lang="en-IN" sz="1600" dirty="0"/>
              <a:t> 24-bit (0.02235 microvolts per bit).</a:t>
            </a:r>
          </a:p>
          <a:p>
            <a:r>
              <a:rPr lang="en-IN" sz="1600" b="1" dirty="0"/>
              <a:t>Sample Rate:</a:t>
            </a:r>
            <a:r>
              <a:rPr lang="en-IN" sz="1600" dirty="0"/>
              <a:t> 250 Hz (default streaming speed per channel).</a:t>
            </a:r>
          </a:p>
          <a:p>
            <a:r>
              <a:rPr lang="en-IN" sz="1600" b="1" dirty="0"/>
              <a:t>Programmable Gain:</a:t>
            </a:r>
            <a:r>
              <a:rPr lang="en-IN" sz="1600" dirty="0"/>
              <a:t> 1, 2, 4, 6, 8, 12, or 24.</a:t>
            </a:r>
          </a:p>
          <a:p>
            <a:r>
              <a:rPr lang="en-IN" sz="1600" b="1" dirty="0"/>
              <a:t>Common Mode Rejection Ratio (CMRR):</a:t>
            </a:r>
            <a:r>
              <a:rPr lang="en-IN" sz="1600" dirty="0"/>
              <a:t> -110dB.</a:t>
            </a:r>
          </a:p>
          <a:p>
            <a:r>
              <a:rPr lang="en-IN" sz="1600" b="1" dirty="0"/>
              <a:t>Input Impedance:</a:t>
            </a:r>
            <a:r>
              <a:rPr lang="en-IN" sz="1600" dirty="0"/>
              <a:t> 1 G</a:t>
            </a:r>
            <a:r>
              <a:rPr lang="el-GR" sz="1600" dirty="0"/>
              <a:t>Ω.</a:t>
            </a:r>
          </a:p>
          <a:p>
            <a:r>
              <a:rPr lang="en-IN" sz="1600" b="1" dirty="0"/>
              <a:t>Input Bias Current:</a:t>
            </a:r>
            <a:r>
              <a:rPr lang="en-IN" sz="1600" dirty="0"/>
              <a:t> 300 </a:t>
            </a:r>
            <a:r>
              <a:rPr lang="en-IN" sz="1600" dirty="0" err="1"/>
              <a:t>pA.</a:t>
            </a:r>
            <a:endParaRPr lang="en-IN" sz="1600" dirty="0"/>
          </a:p>
          <a:p>
            <a:r>
              <a:rPr lang="en-IN" sz="1600" b="1" dirty="0"/>
              <a:t>Connectivity &amp; Expansion</a:t>
            </a:r>
          </a:p>
          <a:p>
            <a:r>
              <a:rPr lang="en-IN" sz="1600" b="1" dirty="0"/>
              <a:t>Channels:</a:t>
            </a:r>
            <a:r>
              <a:rPr lang="en-IN" sz="1600" dirty="0"/>
              <a:t> 8 onboard channels (can be expanded to </a:t>
            </a:r>
            <a:r>
              <a:rPr lang="en-IN" sz="1600" b="1" dirty="0"/>
              <a:t>16 channels</a:t>
            </a:r>
            <a:r>
              <a:rPr lang="en-IN" sz="1600" dirty="0"/>
              <a:t> with the Daisy Shield).</a:t>
            </a:r>
          </a:p>
          <a:p>
            <a:r>
              <a:rPr lang="en-IN" sz="1600" b="1" dirty="0"/>
              <a:t>Inputs:</a:t>
            </a:r>
            <a:r>
              <a:rPr lang="en-IN" sz="1600" dirty="0"/>
              <a:t> Compatible with active or passive electrodes (EEG, EMG, ECG/EKG).</a:t>
            </a:r>
          </a:p>
          <a:p>
            <a:r>
              <a:rPr lang="en-IN" sz="1600" b="1" dirty="0"/>
              <a:t>Local Storage:</a:t>
            </a:r>
            <a:r>
              <a:rPr lang="en-IN" sz="1600" dirty="0"/>
              <a:t> Integrated Micro SD card slot for standalone data logging.</a:t>
            </a:r>
          </a:p>
        </p:txBody>
      </p:sp>
      <p:pic>
        <p:nvPicPr>
          <p:cNvPr id="179" name="Google Shape;179;p18">
            <a:extLst>
              <a:ext uri="{FF2B5EF4-FFF2-40B4-BE49-F238E27FC236}">
                <a16:creationId xmlns:a16="http://schemas.microsoft.com/office/drawing/2014/main" id="{64F51D48-12A4-0457-E75E-200E01A069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9925" y="571500"/>
            <a:ext cx="5238750" cy="5238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2522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9445"/>
            <a:ext cx="35242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3899445"/>
            <a:ext cx="35242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3899445"/>
            <a:ext cx="352425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Algorithmic Framework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37345"/>
            <a:ext cx="11049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857250" y="4375695"/>
            <a:ext cx="2952900" cy="6894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4-Channel Differential Signals (EMG/EEG)</a:t>
            </a:r>
            <a:endParaRPr sz="1200"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4619625" y="4375695"/>
            <a:ext cx="2952900" cy="6894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SVM Classifies Intent (6 Classes)</a:t>
            </a:r>
            <a:endParaRPr sz="1200"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8382000" y="4375695"/>
            <a:ext cx="2952900" cy="6894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Flight Maneuver Select</a:t>
            </a:r>
            <a:endParaRPr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Implementation: AFE Design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194205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Hardware Specifications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04875" y="2313533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Instrumentation Amp: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AD620 based 4-channel design.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04875" y="311363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Op-Amp: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TL074 for filtering and buffering.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04875" y="3608933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120dB Common Mode Rejection Ratio (CMRR).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04875" y="440903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Bandwidth: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Optimized from 0.05 Hz to 120 Hz.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04875" y="4904333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Active Noise: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Right Leg Drive (RLD) circuit for cancellation.</a:t>
            </a:r>
            <a:endParaRPr/>
          </a:p>
        </p:txBody>
      </p:sp>
      <p:pic>
        <p:nvPicPr>
          <p:cNvPr id="208" name="Google Shape;2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2175" y="1547647"/>
            <a:ext cx="5548324" cy="428857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_20260413_125533860">
            <a:hlinkClick r:id="" action="ppaction://media"/>
            <a:extLst>
              <a:ext uri="{FF2B5EF4-FFF2-40B4-BE49-F238E27FC236}">
                <a16:creationId xmlns:a16="http://schemas.microsoft.com/office/drawing/2014/main" id="{A4601D1F-4820-37DE-35A7-37C1577729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8627" y="69922"/>
            <a:ext cx="11854746" cy="67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9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2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6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31730"/>
            <a:ext cx="11049000" cy="716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69555"/>
            <a:ext cx="35242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2869555"/>
            <a:ext cx="35242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869555"/>
            <a:ext cx="35242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Implementation: Feature Extraction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208850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multi-feature extraction pipeline captures distinct EMG patterns for high-accuracy classification:</a:t>
            </a:r>
            <a:endParaRPr/>
          </a:p>
        </p:txBody>
      </p:sp>
      <p:pic>
        <p:nvPicPr>
          <p:cNvPr id="221" name="Google Shape;22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222230"/>
            <a:ext cx="10668000" cy="33575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857250" y="3155305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MAV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57250" y="3622030"/>
            <a:ext cx="295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Mean Absolute Value: Detects signal amplitude levels.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619625" y="3155305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WL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19625" y="3622030"/>
            <a:ext cx="295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Waveform Length: Measures signal complexity over time.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382000" y="3155305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SSC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382000" y="3622030"/>
            <a:ext cx="295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Slope Sign Changes: Identifies frequency variations.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13533"/>
            <a:ext cx="5238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Implementation: ML Pipeline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232305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Gaussian RBF SVM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273263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model utilizes a Support Vector Machine with a Gaussian Radial Basis Function (RBF) kernel for non-linear separation.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667500" y="2599283"/>
            <a:ext cx="49006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6 Navigation Classes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04875" y="383753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Debouncing: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Threshold logic to prevent erratic flight.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904875" y="433283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Smoothing: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Alpha-filter exponential smoothing.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04875" y="482813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Kernel: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RBF for complex muscle pattern mapping.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915150" y="3027908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048500" y="302790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Vertical Ascent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877050" y="3332708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048500" y="333270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Vertical Descent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877050" y="3637508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048500" y="363750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Left Rotation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877050" y="3942308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048500" y="394230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Right Rotation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886575" y="4247108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048500" y="424710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Clockwise Twist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886575" y="4551908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048500" y="455190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Anti-Clockwise Twist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Implementation: Synchronization</a:t>
            </a:r>
            <a:endParaRPr dirty="0"/>
          </a:p>
        </p:txBody>
      </p:sp>
      <p:sp>
        <p:nvSpPr>
          <p:cNvPr id="261" name="Google Shape;261;p23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6381750" y="201825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Lab Streaming Layer (LSL)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381750" y="242783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Bridges hardware communication and MATLAB processing loops.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715125" y="3227933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Unified, time-synchronized collection of measurement time series.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715125" y="4028033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Reduces timing jitter and data loss during wireless RF/BT transmission.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715125" y="4828133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Standardized abstracted networking for high-precision synchronization.</a:t>
            </a:r>
            <a:endParaRPr/>
          </a:p>
        </p:txBody>
      </p:sp>
      <p:pic>
        <p:nvPicPr>
          <p:cNvPr id="1026" name="Picture 2" descr="LabStreamingLayer interfaces and applications · GitHub">
            <a:extLst>
              <a:ext uri="{FF2B5EF4-FFF2-40B4-BE49-F238E27FC236}">
                <a16:creationId xmlns:a16="http://schemas.microsoft.com/office/drawing/2014/main" id="{6C5CC0A5-B1C5-6A0A-1788-002158C02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05" y="1760605"/>
            <a:ext cx="4153855" cy="41538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0140"/>
            <a:ext cx="11049000" cy="492635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Results: SVM Performance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6" name="Google Shape;276;p24"/>
          <p:cNvGraphicFramePr/>
          <p:nvPr/>
        </p:nvGraphicFramePr>
        <p:xfrm>
          <a:off x="571500" y="3185070"/>
          <a:ext cx="11049000" cy="2467000"/>
        </p:xfrm>
        <a:graphic>
          <a:graphicData uri="http://schemas.openxmlformats.org/drawingml/2006/table">
            <a:tbl>
              <a:tblPr firstRow="1" bandRow="1">
                <a:noFill/>
                <a:tableStyleId>{42671DA2-9C14-477F-9ED5-989B06F0FC39}</a:tableStyleId>
              </a:tblPr>
              <a:tblGrid>
                <a:gridCol w="397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Confidence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Rest State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27.1%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Wrist Up (Ascent)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Detection Threshold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Twist Clockwise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Twist Anti-Clockwise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Confidence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7" name="Google Shape;277;p24"/>
          <p:cNvSpPr/>
          <p:nvPr/>
        </p:nvSpPr>
        <p:spPr>
          <a:xfrm>
            <a:off x="571500" y="4151858"/>
            <a:ext cx="3972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544466" y="4151858"/>
            <a:ext cx="317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7722840" y="4151858"/>
            <a:ext cx="38976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71500" y="4647158"/>
            <a:ext cx="3972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4544466" y="4647158"/>
            <a:ext cx="317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722840" y="4647158"/>
            <a:ext cx="38976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71500" y="5142458"/>
            <a:ext cx="3972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4544466" y="5142458"/>
            <a:ext cx="317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722840" y="5142458"/>
            <a:ext cx="38976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571500" y="5637758"/>
            <a:ext cx="3972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544466" y="5637758"/>
            <a:ext cx="3178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7722840" y="5637758"/>
            <a:ext cx="38976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32633"/>
            <a:ext cx="52387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Results: Electrode Evaluation</a:t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25"/>
          <p:cNvGraphicFramePr/>
          <p:nvPr/>
        </p:nvGraphicFramePr>
        <p:xfrm>
          <a:off x="571500" y="2932658"/>
          <a:ext cx="5238725" cy="1971700"/>
        </p:xfrm>
        <a:graphic>
          <a:graphicData uri="http://schemas.openxmlformats.org/drawingml/2006/table">
            <a:tbl>
              <a:tblPr firstRow="1" bandRow="1">
                <a:noFill/>
                <a:tableStyleId>{42671DA2-9C14-477F-9ED5-989B06F0FC39}</a:tableStyleId>
              </a:tblPr>
              <a:tblGrid>
                <a:gridCol w="19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Electrode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Impedance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Suitability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Gel Electrodes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1-10 kΩ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Gold 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Fabric (CNT)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</a:t>
                      </a: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r>
                        <a:rPr lang="en-US" sz="135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kΩ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Flexible / EMG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Comb (Dry)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Scalp / Hair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" name="Google Shape;298;p25"/>
          <p:cNvSpPr txBox="1"/>
          <p:nvPr/>
        </p:nvSpPr>
        <p:spPr>
          <a:xfrm>
            <a:off x="6667500" y="3018383"/>
            <a:ext cx="49006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Fabric Viability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667500" y="3485108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Carbon Nanotube (CNT) coated fabric showed higher contact impedance but offers superior comfort and wearability for flexible EMG bands.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71500" y="3899445"/>
            <a:ext cx="1928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2500312" y="3899445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000500" y="3899445"/>
            <a:ext cx="1809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71500" y="4394745"/>
            <a:ext cx="1928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2500312" y="4394745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4000500" y="4394745"/>
            <a:ext cx="1809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4890045"/>
            <a:ext cx="1928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500312" y="4890045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4000500" y="4890045"/>
            <a:ext cx="1809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5458"/>
            <a:ext cx="3524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75458"/>
            <a:ext cx="3524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75458"/>
            <a:ext cx="35242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Limitations &amp; Challenges</a:t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857250" y="327555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Latency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57250" y="374228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200-500ms delay is currently higher than traditional RF controllers (&lt;100ms).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4619625" y="327555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Hair-Bearing Areas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4619625" y="374228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Practical incompatibility of standard gel electrodes with scalp regions for EEG.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8382000" y="3275558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Signal Attenuation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8382000" y="3742283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Fabric electrodes require heavy signal processing due to high impedance gains.</a:t>
            </a:r>
            <a:endParaRPr/>
          </a:p>
        </p:txBody>
      </p:sp>
      <p:pic>
        <p:nvPicPr>
          <p:cNvPr id="325" name="Google Shape;32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89783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9625" y="278978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2789783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2772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Conclusion &amp; Future Scope</a:t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71500" y="56234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Thank You! Any Questions?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904875" y="190872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Embedded Execution: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Running DSP and SVM on STM32 F44ZE with 32-bit FPU.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904875" y="270882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Wearable Cap: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Development of modular EEG caps with comb electrodes.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904875" y="350892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Wireless Link: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Full untethered communication with UAV flight controller.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904875" y="430902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Refined SVM: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Reducing latency to &lt;100ms for competitive advantage.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906</Words>
  <Application>Microsoft Office PowerPoint</Application>
  <PresentationFormat>Widescreen</PresentationFormat>
  <Paragraphs>142</Paragraphs>
  <Slides>17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Urbanist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BHOSEKAR AMOGH MAKARAND</cp:lastModifiedBy>
  <cp:revision>5</cp:revision>
  <dcterms:modified xsi:type="dcterms:W3CDTF">2026-05-08T06:08:07Z</dcterms:modified>
</cp:coreProperties>
</file>