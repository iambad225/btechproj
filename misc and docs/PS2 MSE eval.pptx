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4" r:id="rId6"/>
    <p:sldId id="259" r:id="rId7"/>
    <p:sldId id="262" r:id="rId8"/>
    <p:sldId id="261" r:id="rId9"/>
    <p:sldId id="263" r:id="rId10"/>
    <p:sldId id="269" r:id="rId11"/>
    <p:sldId id="265" r:id="rId12"/>
    <p:sldId id="266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10" autoAdjust="0"/>
    <p:restoredTop sz="94610"/>
  </p:normalViewPr>
  <p:slideViewPr>
    <p:cSldViewPr snapToGrid="0" snapToObjects="1">
      <p:cViewPr>
        <p:scale>
          <a:sx n="126" d="100"/>
          <a:sy n="126" d="100"/>
        </p:scale>
        <p:origin x="587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8499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62F4D-794C-6A47-E1AE-9D2D52172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A5B6F6-3868-C8AF-3E02-64043C4A72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86FD3E-8B2B-286A-E4EA-34E6C9D587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9DB23-C138-E41A-E665-1AF3E5F7D4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3995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ieeexplore.ieee.org/abstract/document/9498781?casa_token=tGC2PXA-iWsAAAAA:hikodN-SzzyGWeyQXZ5lmWsVmbR27Md798g5puHcY5ymhdgaj9Ynmbs_A0OuwZHHchz39MKQDIc" TargetMode="External"/><Relationship Id="rId7" Type="http://schemas.openxmlformats.org/officeDocument/2006/relationships/hyperlink" Target="https://docs.openbci.com/Cyton/CytonSpecs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link.springer.com/chapter/10.1007/978-3-030-03511-2_5" TargetMode="External"/><Relationship Id="rId5" Type="http://schemas.openxmlformats.org/officeDocument/2006/relationships/hyperlink" Target="https://ieeexplore.ieee.org/abstract/document/9937197" TargetMode="External"/><Relationship Id="rId4" Type="http://schemas.openxmlformats.org/officeDocument/2006/relationships/hyperlink" Target="https://ieeexplore.ieee.org/abstract/document/11098920?casa_token=cefj6Wr8v9kAAAAA:GwGJGWa4IGJ2uRdHepx_gylH_o_mHOGv6Gj4kQ0bjxOjk3jldhNkgmbiDoWnRPKC-SoK8kqB5es" TargetMode="External"/><Relationship Id="rId9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tm32ai.st.com/stm32-cube-ai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311388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COEP Technological University, Shivajinagar, Pune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55410" y="307731"/>
            <a:ext cx="5275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Stage II Evaluation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Biopotential Controlled Drone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7132320" cy="365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2578608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Amogh Bhosekar  |  612309009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2811781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Nihar Joshi  |  612309025</a:t>
            </a:r>
            <a:endParaRPr lang="en-US" sz="1500" dirty="0">
              <a:solidFill>
                <a:schemeClr val="bg1"/>
              </a:solidFill>
            </a:endParaRPr>
          </a:p>
        </p:txBody>
      </p:sp>
      <p:pic>
        <p:nvPicPr>
          <p:cNvPr id="1028" name="Picture 4" descr="COEP Technological University - COEP Tech (@COEPTech ...">
            <a:extLst>
              <a:ext uri="{FF2B5EF4-FFF2-40B4-BE49-F238E27FC236}">
                <a16:creationId xmlns:a16="http://schemas.microsoft.com/office/drawing/2014/main" id="{E03C3EC4-90CE-55B1-6C5B-B1408A6B5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368" y="112542"/>
            <a:ext cx="1445162" cy="1445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BLOCK DIAGRAM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9728" y="4846320"/>
            <a:ext cx="9034272" cy="4572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COEP Technological University | Biopotential Controlled Drone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0166" y="1061569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DB75807-BF62-764D-80C3-AD1902C88A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4572" y="681042"/>
            <a:ext cx="4951975" cy="416527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Needs / Scope / Current Technology / Improvement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9728" y="4846320"/>
            <a:ext cx="9034272" cy="4572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COEP Technological University | Biopotential Controlled Drone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1097280"/>
            <a:ext cx="2103120" cy="3383280"/>
          </a:xfrm>
          <a:prstGeom prst="rect">
            <a:avLst/>
          </a:prstGeom>
          <a:solidFill>
            <a:srgbClr val="F7F8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28600" y="1097280"/>
            <a:ext cx="2103120" cy="73152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28600" y="11887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Needs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1691640"/>
            <a:ext cx="19202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00884" y="1097280"/>
            <a:ext cx="2103120" cy="3383280"/>
          </a:xfrm>
          <a:prstGeom prst="rect">
            <a:avLst/>
          </a:prstGeom>
          <a:solidFill>
            <a:srgbClr val="F7F8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500884" y="1097280"/>
            <a:ext cx="2103120" cy="73152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514600" y="11887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06040" y="1691640"/>
            <a:ext cx="19202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48022" y="1097280"/>
            <a:ext cx="2103120" cy="3383280"/>
          </a:xfrm>
          <a:prstGeom prst="rect">
            <a:avLst/>
          </a:prstGeom>
          <a:solidFill>
            <a:srgbClr val="F7F8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748022" y="1097280"/>
            <a:ext cx="2103120" cy="73152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00600" y="11887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Technology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92040" y="1691640"/>
            <a:ext cx="19202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56298" y="1097280"/>
            <a:ext cx="2103120" cy="3383280"/>
          </a:xfrm>
          <a:prstGeom prst="rect">
            <a:avLst/>
          </a:prstGeom>
          <a:solidFill>
            <a:srgbClr val="F7F8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956298" y="1097280"/>
            <a:ext cx="2103120" cy="73152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995160" y="1207008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Improvement/Scope for Research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047738" y="1708521"/>
            <a:ext cx="192024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A580342-30CE-ABA7-1F7C-107453BAF8B4}"/>
              </a:ext>
            </a:extLst>
          </p:cNvPr>
          <p:cNvSpPr txBox="1"/>
          <p:nvPr/>
        </p:nvSpPr>
        <p:spPr>
          <a:xfrm>
            <a:off x="4892040" y="1691640"/>
            <a:ext cx="1818249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300" dirty="0"/>
              <a:t>Focus on host machine implementation of algorithms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300" dirty="0"/>
              <a:t>Binary EEG Control/ON-OFF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300" dirty="0"/>
              <a:t>No comprehensive quick system calibration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A8C432-830C-75D2-B0DB-BDAF13450690}"/>
              </a:ext>
            </a:extLst>
          </p:cNvPr>
          <p:cNvSpPr txBox="1"/>
          <p:nvPr/>
        </p:nvSpPr>
        <p:spPr>
          <a:xfrm>
            <a:off x="6995160" y="1709693"/>
            <a:ext cx="18182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300" dirty="0"/>
              <a:t>Continuous Control using intensities of ERD/ERS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300" dirty="0"/>
              <a:t>Lack of low cost marketable product in this domain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F70DD64-88C2-812A-2790-5012B4EEEE5C}"/>
              </a:ext>
            </a:extLst>
          </p:cNvPr>
          <p:cNvSpPr txBox="1"/>
          <p:nvPr/>
        </p:nvSpPr>
        <p:spPr>
          <a:xfrm>
            <a:off x="2643319" y="1618488"/>
            <a:ext cx="1818249" cy="2693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300" dirty="0"/>
              <a:t>To Harness EMG+EOG+EEG signals to control a drone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300" dirty="0"/>
              <a:t>Hard Control- EMG+EOG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300" dirty="0"/>
              <a:t>Stage 1: reliable signal acquisition and signal chain establishment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300" dirty="0"/>
              <a:t>Stage 2: Harnessing this signal chain to control a drone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17746F-21E1-22AA-589B-BAB2A844D3E2}"/>
              </a:ext>
            </a:extLst>
          </p:cNvPr>
          <p:cNvSpPr txBox="1"/>
          <p:nvPr/>
        </p:nvSpPr>
        <p:spPr>
          <a:xfrm>
            <a:off x="396181" y="1712956"/>
            <a:ext cx="18182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300" dirty="0"/>
              <a:t>The existing EEG hardware is incapable of detecting relevant montages for Drone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8"/>
          <p:cNvSpPr/>
          <p:nvPr/>
        </p:nvSpPr>
        <p:spPr>
          <a:xfrm>
            <a:off x="228600" y="2834640"/>
            <a:ext cx="4297680" cy="1920240"/>
          </a:xfrm>
          <a:prstGeom prst="rect">
            <a:avLst/>
          </a:prstGeom>
          <a:solidFill>
            <a:srgbClr val="F7F8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Biopotential Signal Acquisition – EMG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9728" y="4846320"/>
            <a:ext cx="9034272" cy="4572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COEP Technological University | Biopotential Controlled Drone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1088370"/>
            <a:ext cx="4297680" cy="1645920"/>
          </a:xfrm>
          <a:prstGeom prst="rect">
            <a:avLst/>
          </a:prstGeom>
          <a:solidFill>
            <a:srgbClr val="F7F8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111556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Architecture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8600" y="3165113"/>
            <a:ext cx="41148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Using a neural network for a 3-class 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Improved accuracy ~90%</a:t>
            </a:r>
          </a:p>
        </p:txBody>
      </p:sp>
      <p:sp>
        <p:nvSpPr>
          <p:cNvPr id="11" name="Text 9"/>
          <p:cNvSpPr/>
          <p:nvPr/>
        </p:nvSpPr>
        <p:spPr>
          <a:xfrm>
            <a:off x="320040" y="28986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Improvement Results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" y="3291840"/>
            <a:ext cx="41148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EFA06B7C-FBF3-7004-731C-970C11718AF7}"/>
              </a:ext>
            </a:extLst>
          </p:cNvPr>
          <p:cNvSpPr/>
          <p:nvPr/>
        </p:nvSpPr>
        <p:spPr>
          <a:xfrm>
            <a:off x="228600" y="1539474"/>
            <a:ext cx="41148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 err="1"/>
              <a:t>BioAmp</a:t>
            </a:r>
            <a:r>
              <a:rPr lang="en-US" sz="1300" dirty="0"/>
              <a:t> EXG Pill+ ESP32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ML algorithm run on host machine on MATLAB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Simple Linear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/>
              <a:t>Accuracy ~70%</a:t>
            </a: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D0B52F8A-0DFC-F54B-DBC2-B7996422F1BE}"/>
              </a:ext>
            </a:extLst>
          </p:cNvPr>
          <p:cNvSpPr/>
          <p:nvPr/>
        </p:nvSpPr>
        <p:spPr>
          <a:xfrm>
            <a:off x="4678680" y="1051560"/>
            <a:ext cx="4297680" cy="3703320"/>
          </a:xfrm>
          <a:prstGeom prst="rect">
            <a:avLst/>
          </a:prstGeom>
          <a:solidFill>
            <a:srgbClr val="F7F8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r>
              <a:rPr lang="en-US" sz="14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57E794DD-420B-1821-6B3E-437B9BB1A4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7666" y="1452607"/>
            <a:ext cx="3433718" cy="26930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Acquisition: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Simultaneous capture of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EMG/EOG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(custom hardware) and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EEG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sz="13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OpenBCI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Cyton) signals.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Central Processing: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Real-time data stream integration via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STM32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microcontroller.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Signal Conditioning: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On-board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digital filtering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and denoising to isolate control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Classification: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Edge AI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execution for gesture recognition and intent decoding.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Communication: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Wireless command transmission via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HC-05 Bluetooth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(2.4 GHz).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Execution: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Command translation by </a:t>
            </a:r>
            <a:r>
              <a:rPr kumimoji="0" lang="en-US" altLang="en-US" sz="1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ESP32</a:t>
            </a:r>
            <a:r>
              <a:rPr kumimoji="0" lang="en-US" altLang="en-US" sz="1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motor modulation and flight control.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MCU — STM32 Selection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9728" y="4846320"/>
            <a:ext cx="9034272" cy="4572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COEP Technological University | Biopotential Controlled Drone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1051560"/>
            <a:ext cx="5120640" cy="3657600"/>
          </a:xfrm>
          <a:prstGeom prst="rect">
            <a:avLst/>
          </a:prstGeom>
          <a:solidFill>
            <a:srgbClr val="F7F8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11155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 SELECTION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554480"/>
            <a:ext cx="493776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77840" y="1051560"/>
            <a:ext cx="33375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F0EF38-ECC1-E044-4CB5-46483F9C6666}"/>
              </a:ext>
            </a:extLst>
          </p:cNvPr>
          <p:cNvSpPr txBox="1"/>
          <p:nvPr/>
        </p:nvSpPr>
        <p:spPr>
          <a:xfrm>
            <a:off x="320040" y="1481328"/>
            <a:ext cx="4751832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300" dirty="0"/>
              <a:t>Current technologies use host machine like a laptop or a CPU for ML computations, which doesn’t make the device portable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300" dirty="0"/>
              <a:t>STM32 has an on board FPU which has the capability to run algorithms on its own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300" dirty="0"/>
              <a:t>STM32 offers better industry standard 12 bit ADC with much lesser noise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300" dirty="0"/>
              <a:t>Better on board digital filtering capabilities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300" dirty="0"/>
              <a:t>Lastly STM32 can be programmed to be in Ultra Low Power mode thus enhancing battery more efficiently than its ESP32 counterparts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Biopotential Signal Acquisition – EEG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9728" y="4846320"/>
            <a:ext cx="9034272" cy="4572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COEP Technological University | Biopotential Controlled Drone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1006543"/>
            <a:ext cx="174791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Signal Acquisition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508760"/>
            <a:ext cx="49377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32120" y="1051560"/>
            <a:ext cx="3337560" cy="3657600"/>
          </a:xfrm>
          <a:prstGeom prst="rect">
            <a:avLst/>
          </a:prstGeom>
          <a:solidFill>
            <a:srgbClr val="EAF1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5669280" y="111556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6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0" y="1508760"/>
            <a:ext cx="31546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Here are the links to few of the research papers: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hlinkClick r:id="rId3"/>
              </a:rPr>
              <a:t>A Cooperative EEG-based BCI Control System for Robot–Drone Interaction</a:t>
            </a:r>
            <a:endParaRPr lang="en-US" sz="1200" b="1" dirty="0"/>
          </a:p>
          <a:p>
            <a:endParaRPr lang="en-US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hlinkClick r:id="rId4"/>
              </a:rPr>
              <a:t>A High-DOF BCI Control Strategy Mapping Discrete Commands to Continuous Motion for a Drone</a:t>
            </a:r>
            <a:endParaRPr lang="en-US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hlinkClick r:id="rId5"/>
              </a:rPr>
              <a:t>Decoding of Multiple Wrist and Hand Movements Using a Transient EMG Classifier</a:t>
            </a:r>
            <a:endParaRPr lang="en-US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hlinkClick r:id="rId6"/>
              </a:rPr>
              <a:t>Overview of EEG, Electrode Placement, and Montages</a:t>
            </a:r>
            <a:endParaRPr lang="en-US" sz="1200" b="1" dirty="0"/>
          </a:p>
          <a:p>
            <a:endParaRPr lang="en-US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b="1" dirty="0">
                <a:hlinkClick r:id="rId7"/>
              </a:rPr>
              <a:t>Cyton Specs</a:t>
            </a:r>
            <a:endParaRPr lang="en-IN" sz="1200" b="1" dirty="0"/>
          </a:p>
          <a:p>
            <a:br>
              <a:rPr lang="en-IN" sz="1200" dirty="0"/>
            </a:br>
            <a:endParaRPr lang="en-US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i="1" dirty="0">
              <a:solidFill>
                <a:srgbClr val="6B7B8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3076" name="Picture 4" descr="10–20 System of EEG Electrode Placement: A Guide | EMOTIV2024 ...">
            <a:extLst>
              <a:ext uri="{FF2B5EF4-FFF2-40B4-BE49-F238E27FC236}">
                <a16:creationId xmlns:a16="http://schemas.microsoft.com/office/drawing/2014/main" id="{EA02D92B-7849-C83A-E56A-B0B6E427C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686" y="1716473"/>
            <a:ext cx="2036298" cy="171055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3AD9C4E-65B9-7EB4-B7E4-D77FD1D53A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39296" y="1716473"/>
            <a:ext cx="2891656" cy="154744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EMG AFE Circuit Design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9728" y="4846320"/>
            <a:ext cx="9034272" cy="4572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COEP Technological University | Biopotential Controlled Drone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15291" y="1051560"/>
            <a:ext cx="2575560" cy="3657600"/>
          </a:xfrm>
          <a:prstGeom prst="rect">
            <a:avLst/>
          </a:prstGeom>
          <a:solidFill>
            <a:srgbClr val="F7F8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1115568"/>
            <a:ext cx="237574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0040" y="1554480"/>
            <a:ext cx="2375747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4 channel data acquisition system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noise, low power (specs further ahead)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classification of wrist/arm movement detection for the UAV control application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300" i="1" dirty="0">
              <a:solidFill>
                <a:srgbClr val="6B7B8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i="1" dirty="0">
              <a:solidFill>
                <a:srgbClr val="6B7B8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923032" y="1051560"/>
            <a:ext cx="5992368" cy="3657600"/>
          </a:xfrm>
          <a:prstGeom prst="rect">
            <a:avLst/>
          </a:prstGeom>
          <a:solidFill>
            <a:srgbClr val="EAF1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3931920" y="1051560"/>
            <a:ext cx="49834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Circuit Schematic]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7EAE096-F384-84CE-DC1E-72748AB88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3032" y="1363556"/>
            <a:ext cx="6005677" cy="3330787"/>
          </a:xfrm>
          <a:prstGeom prst="rect">
            <a:avLst/>
          </a:prstGeom>
        </p:spPr>
      </p:pic>
      <p:sp>
        <p:nvSpPr>
          <p:cNvPr id="16" name="Text 6">
            <a:extLst>
              <a:ext uri="{FF2B5EF4-FFF2-40B4-BE49-F238E27FC236}">
                <a16:creationId xmlns:a16="http://schemas.microsoft.com/office/drawing/2014/main" id="{B2C8139A-7281-3095-6E94-B7400A56329C}"/>
              </a:ext>
            </a:extLst>
          </p:cNvPr>
          <p:cNvSpPr/>
          <p:nvPr/>
        </p:nvSpPr>
        <p:spPr>
          <a:xfrm>
            <a:off x="2923032" y="1024551"/>
            <a:ext cx="237574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channel circuit diagram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 of EMG AFE circuit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9728" y="4846320"/>
            <a:ext cx="9034272" cy="4572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COEP Technological University | Biopotential Controlled Drone</a:t>
            </a:r>
            <a:endParaRPr lang="en-US" sz="80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1CBEC82-8A89-E708-FDD1-0F69E2ACE08F}"/>
              </a:ext>
            </a:extLst>
          </p:cNvPr>
          <p:cNvGrpSpPr/>
          <p:nvPr/>
        </p:nvGrpSpPr>
        <p:grpSpPr>
          <a:xfrm>
            <a:off x="274320" y="1097280"/>
            <a:ext cx="4175760" cy="3566160"/>
            <a:chOff x="228600" y="1097280"/>
            <a:chExt cx="2743200" cy="3566160"/>
          </a:xfrm>
        </p:grpSpPr>
        <p:sp>
          <p:nvSpPr>
            <p:cNvPr id="7" name="Shape 5"/>
            <p:cNvSpPr/>
            <p:nvPr/>
          </p:nvSpPr>
          <p:spPr>
            <a:xfrm>
              <a:off x="228600" y="1097280"/>
              <a:ext cx="2743200" cy="3566160"/>
            </a:xfrm>
            <a:prstGeom prst="rect">
              <a:avLst/>
            </a:prstGeom>
            <a:solidFill>
              <a:srgbClr val="F7F8FA"/>
            </a:solidFill>
            <a:ln w="12700">
              <a:solidFill>
                <a:srgbClr val="D0DCE8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228600" y="1097280"/>
              <a:ext cx="2743200" cy="73152"/>
            </a:xfrm>
            <a:prstGeom prst="rect">
              <a:avLst/>
            </a:prstGeom>
            <a:solidFill>
              <a:srgbClr val="2C6FAC"/>
            </a:solidFill>
            <a:ln w="12700">
              <a:solidFill>
                <a:srgbClr val="2C6FAC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 8"/>
            <p:cNvSpPr/>
            <p:nvPr/>
          </p:nvSpPr>
          <p:spPr>
            <a:xfrm>
              <a:off x="320040" y="1266613"/>
              <a:ext cx="2560320" cy="3305387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6B7B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AD620 instrumentation amplifier: amplify small differential EMG signals and reject noise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6B7B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CMRR: 100-120dB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6B7B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High input impedance (order of </a:t>
              </a:r>
              <a:r>
                <a:rPr lang="en-US" sz="1400" dirty="0" err="1">
                  <a:solidFill>
                    <a:srgbClr val="6B7B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gigaohms</a:t>
              </a:r>
              <a:r>
                <a:rPr lang="en-US" sz="1400" dirty="0">
                  <a:solidFill>
                    <a:srgbClr val="6B7B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6B7B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HPF with 1.6Hz cutoff frequency to suppress low frequency drift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6B7B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LPF with 72Hz cutoff frequency to suppress high frequency noise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644F54E-F5B7-8583-F7D5-3FE0B5CC7978}"/>
              </a:ext>
            </a:extLst>
          </p:cNvPr>
          <p:cNvGrpSpPr/>
          <p:nvPr/>
        </p:nvGrpSpPr>
        <p:grpSpPr>
          <a:xfrm>
            <a:off x="4572001" y="1097280"/>
            <a:ext cx="4399280" cy="3566160"/>
            <a:chOff x="3200400" y="1097280"/>
            <a:chExt cx="2743200" cy="3566160"/>
          </a:xfrm>
        </p:grpSpPr>
        <p:sp>
          <p:nvSpPr>
            <p:cNvPr id="11" name="Shape 9"/>
            <p:cNvSpPr/>
            <p:nvPr/>
          </p:nvSpPr>
          <p:spPr>
            <a:xfrm>
              <a:off x="3200400" y="1097280"/>
              <a:ext cx="2743200" cy="3566160"/>
            </a:xfrm>
            <a:prstGeom prst="rect">
              <a:avLst/>
            </a:prstGeom>
            <a:solidFill>
              <a:srgbClr val="F7F8FA"/>
            </a:solidFill>
            <a:ln w="12700">
              <a:solidFill>
                <a:srgbClr val="D0DCE8"/>
              </a:solidFill>
              <a:prstDash val="solid"/>
            </a:ln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3200400" y="1097280"/>
              <a:ext cx="2743200" cy="73152"/>
            </a:xfrm>
            <a:prstGeom prst="rect">
              <a:avLst/>
            </a:prstGeom>
            <a:solidFill>
              <a:srgbClr val="2C6FAC"/>
            </a:solidFill>
            <a:ln w="12700">
              <a:solidFill>
                <a:srgbClr val="2C6FAC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 12"/>
            <p:cNvSpPr/>
            <p:nvPr/>
          </p:nvSpPr>
          <p:spPr>
            <a:xfrm>
              <a:off x="3291840" y="1266613"/>
              <a:ext cx="2560320" cy="3305387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6B7B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TL074 quad JFET amplifier used for active gain stage and filtering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6B7B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Bandpass: 1.6Hz to 72Hz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6B7B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Differential supply operation for headroom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6B7B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100nF decoupling capacitors at each amplifier stage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6B7B8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Single ended output for ADC of receiving microcontroller such as STM32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endParaRPr lang="en-US" sz="1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EMG Hardware &amp; Neural Network Results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9728" y="4846320"/>
            <a:ext cx="9034272" cy="4572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COEP Technological University | Biopotential Controlled Drone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8600" y="1097280"/>
            <a:ext cx="4206240" cy="3657600"/>
          </a:xfrm>
          <a:prstGeom prst="rect">
            <a:avLst/>
          </a:prstGeom>
          <a:solidFill>
            <a:srgbClr val="EAF1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74904" y="1188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6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— Trained Accuracy &amp; Results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051560"/>
            <a:ext cx="4251960" cy="3703320"/>
          </a:xfrm>
          <a:prstGeom prst="rect">
            <a:avLst/>
          </a:prstGeom>
          <a:solidFill>
            <a:srgbClr val="EAF1F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663440" y="1051560"/>
            <a:ext cx="4251960" cy="3703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2FEF4AAB-E4D7-8440-97EC-B282745EE6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338" y="1554480"/>
            <a:ext cx="3792764" cy="237919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90C2796-2B94-A3FB-3D91-78199249AC66}"/>
              </a:ext>
            </a:extLst>
          </p:cNvPr>
          <p:cNvSpPr txBox="1"/>
          <p:nvPr/>
        </p:nvSpPr>
        <p:spPr>
          <a:xfrm>
            <a:off x="435338" y="4157003"/>
            <a:ext cx="3792764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Importing these pretrained weights helps reduce the model training time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ECA6E97-E3A4-9DED-C4AA-3185A182B9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554480"/>
            <a:ext cx="4023360" cy="1093851"/>
          </a:xfrm>
          <a:prstGeom prst="rect">
            <a:avLst/>
          </a:prstGeom>
        </p:spPr>
      </p:pic>
      <p:sp>
        <p:nvSpPr>
          <p:cNvPr id="19" name="Text 9">
            <a:extLst>
              <a:ext uri="{FF2B5EF4-FFF2-40B4-BE49-F238E27FC236}">
                <a16:creationId xmlns:a16="http://schemas.microsoft.com/office/drawing/2014/main" id="{95E11118-4B05-9965-CC61-CF36F5B3F17B}"/>
              </a:ext>
            </a:extLst>
          </p:cNvPr>
          <p:cNvSpPr/>
          <p:nvPr/>
        </p:nvSpPr>
        <p:spPr>
          <a:xfrm>
            <a:off x="4777740" y="1158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6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— Architecture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454888-3176-E2F1-FFB7-99BCF322C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EB1D2C9-86F9-5735-9A79-20B524AE7DE8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2C7310E-B187-0FF7-4B14-5D6ACAE363A0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4D50A97-6CA9-7532-537C-35337A5DD912}"/>
              </a:ext>
            </a:extLst>
          </p:cNvPr>
          <p:cNvSpPr/>
          <p:nvPr/>
        </p:nvSpPr>
        <p:spPr>
          <a:xfrm>
            <a:off x="27432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EMG Hardware &amp; Neural Network Results</a:t>
            </a:r>
            <a:endParaRPr lang="en-US" sz="2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444DEB7-7230-3398-9BAB-5108540A1084}"/>
              </a:ext>
            </a:extLst>
          </p:cNvPr>
          <p:cNvSpPr/>
          <p:nvPr/>
        </p:nvSpPr>
        <p:spPr>
          <a:xfrm>
            <a:off x="109728" y="4846320"/>
            <a:ext cx="9034272" cy="4572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8AB1AA2-E5C4-EC41-4738-77A98C1CE5E5}"/>
              </a:ext>
            </a:extLst>
          </p:cNvPr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COEP Technological University | Biopotential Controlled Drone</a:t>
            </a:r>
            <a:endParaRPr lang="en-US" sz="8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66D61FF-49E8-7AD1-363E-DEDB88AD7A45}"/>
              </a:ext>
            </a:extLst>
          </p:cNvPr>
          <p:cNvSpPr/>
          <p:nvPr/>
        </p:nvSpPr>
        <p:spPr>
          <a:xfrm>
            <a:off x="4663440" y="1051560"/>
            <a:ext cx="4251960" cy="22603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0DBD2040-2C99-CA65-3CED-31C6E12EA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833" y="1051560"/>
            <a:ext cx="3738517" cy="1967914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DE32787E-CB68-08B0-E76F-6468B10201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285" y="1050917"/>
            <a:ext cx="3765801" cy="196920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FBE1E1-87FB-B804-D2FE-E5DA841087AB}"/>
              </a:ext>
            </a:extLst>
          </p:cNvPr>
          <p:cNvSpPr txBox="1"/>
          <p:nvPr/>
        </p:nvSpPr>
        <p:spPr>
          <a:xfrm>
            <a:off x="2069712" y="3019474"/>
            <a:ext cx="122388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/>
              <a:t>Rest State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E1C822-2D96-1948-100B-184023FB97E5}"/>
              </a:ext>
            </a:extLst>
          </p:cNvPr>
          <p:cNvSpPr txBox="1"/>
          <p:nvPr/>
        </p:nvSpPr>
        <p:spPr>
          <a:xfrm>
            <a:off x="6179233" y="3065837"/>
            <a:ext cx="1185203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 dirty="0"/>
              <a:t>Wrist Clench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465518-F79A-79FE-4D7A-EADE93396E9E}"/>
              </a:ext>
            </a:extLst>
          </p:cNvPr>
          <p:cNvSpPr txBox="1"/>
          <p:nvPr/>
        </p:nvSpPr>
        <p:spPr>
          <a:xfrm>
            <a:off x="1479568" y="3403945"/>
            <a:ext cx="6834437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Aft>
                <a:spcPts val="1200"/>
              </a:spcAft>
              <a:buNone/>
            </a:pPr>
            <a:r>
              <a:rPr lang="en-US" sz="1300" b="0" dirty="0">
                <a:effectLst/>
              </a:rPr>
              <a:t>The network identifies these states by mapping raw signal intensity and burst frequency to specific mathematical signatures. For </a:t>
            </a:r>
            <a:r>
              <a:rPr lang="en-US" sz="1300" b="1" dirty="0">
                <a:effectLst/>
              </a:rPr>
              <a:t>Rest</a:t>
            </a:r>
            <a:r>
              <a:rPr lang="en-US" sz="1300" b="0" dirty="0">
                <a:effectLst/>
              </a:rPr>
              <a:t>, it recognizes low-amplitude baseline noise; for </a:t>
            </a:r>
            <a:r>
              <a:rPr lang="en-US" sz="1300" b="1" dirty="0">
                <a:effectLst/>
              </a:rPr>
              <a:t>Wrist Flexion</a:t>
            </a:r>
            <a:r>
              <a:rPr lang="en-US" sz="1300" b="0" dirty="0">
                <a:effectLst/>
              </a:rPr>
              <a:t>, it detects sustained, high-power waveforms; and for </a:t>
            </a:r>
            <a:r>
              <a:rPr lang="en-US" sz="1300" b="1" dirty="0">
                <a:effectLst/>
              </a:rPr>
              <a:t>Wrist Clench</a:t>
            </a:r>
            <a:r>
              <a:rPr lang="en-US" sz="1300" b="0" dirty="0">
                <a:effectLst/>
              </a:rPr>
              <a:t>, it isolates rapid, high-intensity spikes. These features are processed through hidden layers to create abstract "shapes" for each gesture, with the final </a:t>
            </a:r>
            <a:r>
              <a:rPr lang="en-US" sz="1300" b="0" dirty="0" err="1">
                <a:effectLst/>
              </a:rPr>
              <a:t>Softmax</a:t>
            </a:r>
            <a:r>
              <a:rPr lang="en-US" sz="1300" b="0" dirty="0">
                <a:effectLst/>
              </a:rPr>
              <a:t> layer assigning a probability to each class to select the most likely control command.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FA3FF50-0254-5955-87AA-E5E84ADB50AD}"/>
              </a:ext>
            </a:extLst>
          </p:cNvPr>
          <p:cNvSpPr/>
          <p:nvPr/>
        </p:nvSpPr>
        <p:spPr>
          <a:xfrm>
            <a:off x="1479568" y="3403945"/>
            <a:ext cx="6834437" cy="129266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702663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9728" y="4846320"/>
            <a:ext cx="9034272" cy="4572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COEP Technological University | Biopotential Controlled Drone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1143000"/>
            <a:ext cx="4114800" cy="1691640"/>
          </a:xfrm>
          <a:prstGeom prst="rect">
            <a:avLst/>
          </a:prstGeom>
          <a:solidFill>
            <a:srgbClr val="F7F8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20040" y="1143000"/>
            <a:ext cx="73152" cy="1691640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1234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6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1600200"/>
            <a:ext cx="3886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/>
              <a:t>EEG signal acquisition post arrival of hardware and designing an appropriate Electrode hardware based on the relevant EEG montages </a:t>
            </a:r>
          </a:p>
        </p:txBody>
      </p:sp>
      <p:sp>
        <p:nvSpPr>
          <p:cNvPr id="11" name="Shape 9"/>
          <p:cNvSpPr/>
          <p:nvPr/>
        </p:nvSpPr>
        <p:spPr>
          <a:xfrm>
            <a:off x="320040" y="2977075"/>
            <a:ext cx="4114800" cy="1691640"/>
          </a:xfrm>
          <a:prstGeom prst="rect">
            <a:avLst/>
          </a:prstGeom>
          <a:solidFill>
            <a:srgbClr val="F7F8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20040" y="2969163"/>
            <a:ext cx="73152" cy="1691640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6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7200" y="3474720"/>
            <a:ext cx="3886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1143000"/>
            <a:ext cx="4114800" cy="1691640"/>
          </a:xfrm>
          <a:prstGeom prst="rect">
            <a:avLst/>
          </a:prstGeom>
          <a:solidFill>
            <a:srgbClr val="F7F8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800600" y="1143000"/>
            <a:ext cx="73152" cy="1691640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937760" y="1234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6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37760" y="1600200"/>
            <a:ext cx="3886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3017520"/>
            <a:ext cx="4114800" cy="1691640"/>
          </a:xfrm>
          <a:prstGeom prst="rect">
            <a:avLst/>
          </a:prstGeom>
          <a:solidFill>
            <a:srgbClr val="F7F8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800600" y="3017520"/>
            <a:ext cx="73152" cy="1691640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937760" y="310896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C6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937760" y="3474720"/>
            <a:ext cx="3886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3" name="Text 8">
            <a:extLst>
              <a:ext uri="{FF2B5EF4-FFF2-40B4-BE49-F238E27FC236}">
                <a16:creationId xmlns:a16="http://schemas.microsoft.com/office/drawing/2014/main" id="{2EE95239-9656-D94A-265D-FB9AA88EB045}"/>
              </a:ext>
            </a:extLst>
          </p:cNvPr>
          <p:cNvSpPr/>
          <p:nvPr/>
        </p:nvSpPr>
        <p:spPr>
          <a:xfrm>
            <a:off x="5029200" y="1640645"/>
            <a:ext cx="3886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00" dirty="0"/>
              <a:t>Working on implementing the Wrist detection ML model on STM32 via the </a:t>
            </a:r>
            <a:r>
              <a:rPr lang="en-IN" sz="13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STM32Cube.AI</a:t>
            </a:r>
            <a:r>
              <a:rPr lang="en-IN" sz="1300" dirty="0"/>
              <a:t> and developing new models for the acquired EEG signals</a:t>
            </a: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3B10F89D-E278-9E42-E6B6-D9C9E0D8689C}"/>
              </a:ext>
            </a:extLst>
          </p:cNvPr>
          <p:cNvSpPr/>
          <p:nvPr/>
        </p:nvSpPr>
        <p:spPr>
          <a:xfrm>
            <a:off x="5029200" y="3383280"/>
            <a:ext cx="3886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/>
              <a:t>Coding the Drone for stability and then integrating the acquired biopotential signals into the existing drone control logic</a:t>
            </a:r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7FE60B9F-12A2-48FE-344D-5D4307BFB922}"/>
              </a:ext>
            </a:extLst>
          </p:cNvPr>
          <p:cNvSpPr/>
          <p:nvPr/>
        </p:nvSpPr>
        <p:spPr>
          <a:xfrm>
            <a:off x="484632" y="3520440"/>
            <a:ext cx="3886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/>
              <a:t>Testing and Implementing the custom 4 channel EMG+EOG setup and integrating it with the existing signal chain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E4A"/>
          </a:solidFill>
          <a:ln w="12700">
            <a:solidFill>
              <a:srgbClr val="1A2E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84124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Analysis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9728" y="4846320"/>
            <a:ext cx="9034272" cy="45720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COEP Technological University | Biopotential Controlled Drone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1097280"/>
            <a:ext cx="2743200" cy="1737360"/>
          </a:xfrm>
          <a:prstGeom prst="rect">
            <a:avLst/>
          </a:prstGeom>
          <a:solidFill>
            <a:srgbClr val="F7F8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28600" y="1097280"/>
            <a:ext cx="2743200" cy="64008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1188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Rehabilitation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6459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Bedside Pill Delivery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1097280"/>
            <a:ext cx="2743200" cy="1737360"/>
          </a:xfrm>
          <a:prstGeom prst="rect">
            <a:avLst/>
          </a:prstGeom>
          <a:solidFill>
            <a:srgbClr val="F7F8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200400" y="1097280"/>
            <a:ext cx="2743200" cy="64008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91840" y="1188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 &amp; Surveillance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6459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72200" y="1097280"/>
            <a:ext cx="2743200" cy="1737360"/>
          </a:xfrm>
          <a:prstGeom prst="rect">
            <a:avLst/>
          </a:prstGeom>
          <a:solidFill>
            <a:srgbClr val="F7F8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6" name="Shape 14"/>
          <p:cNvSpPr/>
          <p:nvPr/>
        </p:nvSpPr>
        <p:spPr>
          <a:xfrm>
            <a:off x="6172200" y="1097280"/>
            <a:ext cx="2743200" cy="64008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63640" y="1188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Rescue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16459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3017520"/>
            <a:ext cx="2743200" cy="1737360"/>
          </a:xfrm>
          <a:prstGeom prst="rect">
            <a:avLst/>
          </a:prstGeom>
          <a:solidFill>
            <a:srgbClr val="F7F8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28600" y="3017520"/>
            <a:ext cx="2743200" cy="64008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20040" y="3108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Entertainment &amp; Gaming</a:t>
            </a:r>
            <a:endParaRPr lang="en-US" sz="1100" b="1" dirty="0">
              <a:solidFill>
                <a:srgbClr val="1A2E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20040" y="35661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immersive, hands-free experiences where drone flight is modulated by the user's focus and emotional state rather than physical input.</a:t>
            </a:r>
          </a:p>
        </p:txBody>
      </p:sp>
      <p:sp>
        <p:nvSpPr>
          <p:cNvPr id="23" name="Shape 21"/>
          <p:cNvSpPr/>
          <p:nvPr/>
        </p:nvSpPr>
        <p:spPr>
          <a:xfrm>
            <a:off x="3200400" y="3017520"/>
            <a:ext cx="2743200" cy="1737360"/>
          </a:xfrm>
          <a:prstGeom prst="rect">
            <a:avLst/>
          </a:prstGeom>
          <a:solidFill>
            <a:srgbClr val="F7F8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200400" y="3017520"/>
            <a:ext cx="2743200" cy="64008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291840" y="3108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Solutions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91840" y="35661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Providing quadriplegic individuals with independent "eyes-in-the-sky" for personal navigation and environmental monitoring.</a:t>
            </a:r>
          </a:p>
        </p:txBody>
      </p:sp>
      <p:sp>
        <p:nvSpPr>
          <p:cNvPr id="27" name="Shape 25"/>
          <p:cNvSpPr/>
          <p:nvPr/>
        </p:nvSpPr>
        <p:spPr>
          <a:xfrm>
            <a:off x="6172200" y="3017520"/>
            <a:ext cx="2743200" cy="1737360"/>
          </a:xfrm>
          <a:prstGeom prst="rect">
            <a:avLst/>
          </a:prstGeom>
          <a:solidFill>
            <a:srgbClr val="F7F8FA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8" name="Shape 26"/>
          <p:cNvSpPr/>
          <p:nvPr/>
        </p:nvSpPr>
        <p:spPr>
          <a:xfrm>
            <a:off x="6172200" y="3017520"/>
            <a:ext cx="2743200" cy="64008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263640" y="31089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Development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356616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Prototyping real-time Edge AI architectures on STM32 to bridge the gap between lab-grade BCI and field deployment.</a:t>
            </a:r>
          </a:p>
        </p:txBody>
      </p:sp>
      <p:sp>
        <p:nvSpPr>
          <p:cNvPr id="31" name="Text 8">
            <a:extLst>
              <a:ext uri="{FF2B5EF4-FFF2-40B4-BE49-F238E27FC236}">
                <a16:creationId xmlns:a16="http://schemas.microsoft.com/office/drawing/2014/main" id="{6D7DD2A8-61BC-BAAB-8030-417426B73B5E}"/>
              </a:ext>
            </a:extLst>
          </p:cNvPr>
          <p:cNvSpPr/>
          <p:nvPr/>
        </p:nvSpPr>
        <p:spPr>
          <a:xfrm>
            <a:off x="3291840" y="16459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Enabling pilots to control auxiliary drones simultaneously using EOG/EEG triggers.</a:t>
            </a:r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E6C81F55-50AC-AC38-7806-9DEC6266966B}"/>
              </a:ext>
            </a:extLst>
          </p:cNvPr>
          <p:cNvSpPr/>
          <p:nvPr/>
        </p:nvSpPr>
        <p:spPr>
          <a:xfrm>
            <a:off x="6263640" y="1677924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3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drones in toxic or confined environments using hands-free biological signals for safer exploration.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2C6FAC"/>
          </a:solidFill>
          <a:ln w="12700">
            <a:solidFill>
              <a:srgbClr val="2C6FA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457200" y="2651760"/>
            <a:ext cx="7132320" cy="36576"/>
          </a:xfrm>
          <a:prstGeom prst="rect">
            <a:avLst/>
          </a:prstGeom>
          <a:solidFill>
            <a:srgbClr val="D0DCE8"/>
          </a:solidFill>
          <a:ln w="1270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7132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7889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D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Amogh Bhosekar (612309009)  ·  Nihar Joshi (612309025)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20040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COEP Technological University, Shivajinagar, Pune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2C6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Semester Project Stage II Evaluation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970</Words>
  <Application>Microsoft Office PowerPoint</Application>
  <PresentationFormat>On-screen Show (16:9)</PresentationFormat>
  <Paragraphs>143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Biopotential Controlled Drone - Mid Semester Project</dc:title>
  <dc:subject>PptxGenJS Presentation</dc:subject>
  <dc:creator>PptxGenJS</dc:creator>
  <cp:lastModifiedBy>BHOSEKAR AMOGH MAKARAND</cp:lastModifiedBy>
  <cp:revision>26</cp:revision>
  <dcterms:created xsi:type="dcterms:W3CDTF">2026-03-15T04:14:42Z</dcterms:created>
  <dcterms:modified xsi:type="dcterms:W3CDTF">2026-03-16T11:34:17Z</dcterms:modified>
</cp:coreProperties>
</file>